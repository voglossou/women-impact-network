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1"/>
  </p:sldMasterIdLst>
  <p:sldIdLst>
    <p:sldId id="273" r:id="rId2"/>
    <p:sldId id="261" r:id="rId3"/>
    <p:sldId id="280" r:id="rId4"/>
    <p:sldId id="287" r:id="rId5"/>
    <p:sldId id="288" r:id="rId6"/>
    <p:sldId id="289" r:id="rId7"/>
    <p:sldId id="281" r:id="rId8"/>
    <p:sldId id="276" r:id="rId9"/>
    <p:sldId id="277" r:id="rId10"/>
    <p:sldId id="275" r:id="rId11"/>
    <p:sldId id="284" r:id="rId12"/>
    <p:sldId id="283" r:id="rId13"/>
    <p:sldId id="286" r:id="rId14"/>
    <p:sldId id="285" r:id="rId15"/>
    <p:sldId id="282" r:id="rId16"/>
    <p:sldId id="256"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1652"/>
    <a:srgbClr val="939393"/>
    <a:srgbClr val="400C13"/>
    <a:srgbClr val="FF00FF"/>
    <a:srgbClr val="4804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68" d="100"/>
          <a:sy n="68" d="100"/>
        </p:scale>
        <p:origin x="90"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smtClean="0"/>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p:txBody>
          <a:bodyPr/>
          <a:lstStyle/>
          <a:p>
            <a:fld id="{16953D0D-9E81-42D3-8DE7-21E0275A950D}" type="datetimeFigureOut">
              <a:rPr lang="fr-FR" smtClean="0"/>
              <a:t>10/05/2022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735520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16953D0D-9E81-42D3-8DE7-21E0275A950D}" type="datetimeFigureOut">
              <a:rPr lang="fr-FR" smtClean="0"/>
              <a:t>10/05/2022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3853063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16953D0D-9E81-42D3-8DE7-21E0275A950D}" type="datetimeFigureOut">
              <a:rPr lang="fr-FR" smtClean="0"/>
              <a:t>10/05/2022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2749182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16953D0D-9E81-42D3-8DE7-21E0275A950D}" type="datetimeFigureOut">
              <a:rPr lang="fr-FR" smtClean="0"/>
              <a:t>10/05/2022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1745429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16953D0D-9E81-42D3-8DE7-21E0275A950D}" type="datetimeFigureOut">
              <a:rPr lang="fr-FR" smtClean="0"/>
              <a:t>10/05/2022</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350189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16953D0D-9E81-42D3-8DE7-21E0275A950D}" type="datetimeFigureOut">
              <a:rPr lang="fr-FR" smtClean="0"/>
              <a:t>10/05/2022</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2732544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953D0D-9E81-42D3-8DE7-21E0275A950D}" type="datetimeFigureOut">
              <a:rPr lang="fr-FR" smtClean="0"/>
              <a:t>10/05/2022</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216251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smtClean="0"/>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16953D0D-9E81-42D3-8DE7-21E0275A950D}" type="datetimeFigureOut">
              <a:rPr lang="fr-FR" smtClean="0"/>
              <a:t>10/05/2022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1771028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16953D0D-9E81-42D3-8DE7-21E0275A950D}" type="datetimeFigureOut">
              <a:rPr lang="fr-FR" smtClean="0"/>
              <a:t>10/05/2022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2326619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16953D0D-9E81-42D3-8DE7-21E0275A950D}" type="datetimeFigureOut">
              <a:rPr lang="fr-FR" smtClean="0"/>
              <a:t>10/05/2022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238710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16953D0D-9E81-42D3-8DE7-21E0275A950D}" type="datetimeFigureOut">
              <a:rPr lang="fr-FR" smtClean="0"/>
              <a:t>10/05/2022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1C79217-D436-4CBA-822F-9BC2F7F88158}"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64015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16953D0D-9E81-42D3-8DE7-21E0275A950D}" type="datetimeFigureOut">
              <a:rPr lang="fr-FR" smtClean="0"/>
              <a:t>10/05/2022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1648260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16953D0D-9E81-42D3-8DE7-21E0275A950D}" type="datetimeFigureOut">
              <a:rPr lang="fr-FR" smtClean="0"/>
              <a:t>10/05/2022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1C79217-D436-4CBA-822F-9BC2F7F88158}"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29039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16953D0D-9E81-42D3-8DE7-21E0275A950D}" type="datetimeFigureOut">
              <a:rPr lang="fr-FR" smtClean="0"/>
              <a:t>10/05/2022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11981038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16953D0D-9E81-42D3-8DE7-21E0275A950D}" type="datetimeFigureOut">
              <a:rPr lang="fr-FR" smtClean="0"/>
              <a:t>10/05/2022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4280731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16953D0D-9E81-42D3-8DE7-21E0275A950D}" type="datetimeFigureOut">
              <a:rPr lang="fr-FR" smtClean="0"/>
              <a:t>10/05/2022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1C79217-D436-4CBA-822F-9BC2F7F88158}" type="slidenum">
              <a:rPr lang="fr-FR" smtClean="0"/>
              <a:t>‹N°›</a:t>
            </a:fld>
            <a:endParaRPr lang="fr-FR"/>
          </a:p>
        </p:txBody>
      </p:sp>
    </p:spTree>
    <p:extLst>
      <p:ext uri="{BB962C8B-B14F-4D97-AF65-F5344CB8AC3E}">
        <p14:creationId xmlns:p14="http://schemas.microsoft.com/office/powerpoint/2010/main" val="2291905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6953D0D-9E81-42D3-8DE7-21E0275A950D}" type="datetimeFigureOut">
              <a:rPr lang="fr-FR" smtClean="0"/>
              <a:t>10/05/2022</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C79217-D436-4CBA-822F-9BC2F7F88158}" type="slidenum">
              <a:rPr lang="fr-FR" smtClean="0"/>
              <a:t>‹N°›</a:t>
            </a:fld>
            <a:endParaRPr lang="fr-FR"/>
          </a:p>
        </p:txBody>
      </p:sp>
    </p:spTree>
    <p:extLst>
      <p:ext uri="{BB962C8B-B14F-4D97-AF65-F5344CB8AC3E}">
        <p14:creationId xmlns:p14="http://schemas.microsoft.com/office/powerpoint/2010/main" val="195673517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0.jpg"/><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23.jpeg"/></Relationships>
</file>

<file path=ppt/slides/_rels/slide1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1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7.xml"/><Relationship Id="rId4" Type="http://schemas.openxmlformats.org/officeDocument/2006/relationships/image" Target="../media/image30.jpg"/></Relationships>
</file>

<file path=ppt/slides/_rels/slide1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jpg"/><Relationship Id="rId5" Type="http://schemas.openxmlformats.org/officeDocument/2006/relationships/image" Target="../media/image33.jpg"/><Relationship Id="rId4" Type="http://schemas.openxmlformats.org/officeDocument/2006/relationships/image" Target="../media/image32.jpg"/></Relationships>
</file>

<file path=ppt/slides/_rels/slide15.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rotWithShape="1">
          <a:blip r:embed="rId2" cstate="print">
            <a:extLst>
              <a:ext uri="{28A0092B-C50C-407E-A947-70E740481C1C}">
                <a14:useLocalDpi xmlns:a14="http://schemas.microsoft.com/office/drawing/2010/main" val="0"/>
              </a:ext>
            </a:extLst>
          </a:blip>
          <a:srcRect t="22760" b="24355"/>
          <a:stretch/>
        </p:blipFill>
        <p:spPr>
          <a:xfrm>
            <a:off x="2150773" y="746975"/>
            <a:ext cx="7044744" cy="4132128"/>
          </a:xfrm>
          <a:prstGeom prst="rect">
            <a:avLst/>
          </a:prstGeom>
        </p:spPr>
      </p:pic>
      <p:sp>
        <p:nvSpPr>
          <p:cNvPr id="8" name="Sous-titre 2"/>
          <p:cNvSpPr>
            <a:spLocks noGrp="1"/>
          </p:cNvSpPr>
          <p:nvPr>
            <p:ph type="subTitle" idx="1"/>
          </p:nvPr>
        </p:nvSpPr>
        <p:spPr>
          <a:xfrm>
            <a:off x="2047741" y="5241020"/>
            <a:ext cx="6851559" cy="490080"/>
          </a:xfrm>
        </p:spPr>
        <p:txBody>
          <a:bodyPr>
            <a:normAutofit fontScale="77500" lnSpcReduction="20000"/>
          </a:bodyPr>
          <a:lstStyle/>
          <a:p>
            <a:r>
              <a:rPr lang="fr-FR" sz="2600" b="1" dirty="0" smtClean="0">
                <a:solidFill>
                  <a:schemeClr val="accent2">
                    <a:lumMod val="75000"/>
                  </a:schemeClr>
                </a:solidFill>
              </a:rPr>
              <a:t>Building A new Africa By Empowering WOMEN &amp; Youth</a:t>
            </a:r>
          </a:p>
          <a:p>
            <a:endParaRPr lang="fr-FR" b="1" dirty="0">
              <a:solidFill>
                <a:srgbClr val="D81652"/>
              </a:solidFill>
            </a:endParaRPr>
          </a:p>
        </p:txBody>
      </p:sp>
    </p:spTree>
    <p:extLst>
      <p:ext uri="{BB962C8B-B14F-4D97-AF65-F5344CB8AC3E}">
        <p14:creationId xmlns:p14="http://schemas.microsoft.com/office/powerpoint/2010/main" val="23276367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4367" y="1195661"/>
            <a:ext cx="9615244" cy="5050742"/>
          </a:xfrm>
          <a:prstGeom prst="rect">
            <a:avLst/>
          </a:prstGeom>
          <a:ln w="6350">
            <a:solidFill>
              <a:schemeClr val="tx1"/>
            </a:solidFill>
          </a:ln>
        </p:spPr>
        <p:txBody>
          <a:bodyPr wrap="square">
            <a:spAutoFit/>
          </a:bodyPr>
          <a:lstStyle/>
          <a:p>
            <a:pPr algn="just">
              <a:lnSpc>
                <a:spcPct val="107000"/>
              </a:lnSpc>
              <a:spcAft>
                <a:spcPts val="800"/>
              </a:spcAft>
            </a:pPr>
            <a:r>
              <a:rPr lang="fr-FR" dirty="0">
                <a:solidFill>
                  <a:schemeClr val="accent5"/>
                </a:solidFill>
              </a:rPr>
              <a:t>WIN</a:t>
            </a:r>
            <a:r>
              <a:rPr lang="fr-FR" dirty="0">
                <a:solidFill>
                  <a:schemeClr val="tx1">
                    <a:lumMod val="75000"/>
                    <a:lumOff val="25000"/>
                  </a:schemeClr>
                </a:solidFill>
              </a:rPr>
              <a:t> est une </a:t>
            </a:r>
            <a:r>
              <a:rPr lang="fr-FR" dirty="0" smtClean="0">
                <a:solidFill>
                  <a:schemeClr val="tx1">
                    <a:lumMod val="75000"/>
                    <a:lumOff val="25000"/>
                  </a:schemeClr>
                </a:solidFill>
              </a:rPr>
              <a:t>organisation de type loi 1901 présente </a:t>
            </a:r>
            <a:r>
              <a:rPr lang="fr-FR" dirty="0">
                <a:solidFill>
                  <a:srgbClr val="202124"/>
                </a:solidFill>
                <a:latin typeface="inherit"/>
              </a:rPr>
              <a:t>dans </a:t>
            </a:r>
            <a:r>
              <a:rPr lang="fr-FR" dirty="0" smtClean="0">
                <a:solidFill>
                  <a:srgbClr val="202124"/>
                </a:solidFill>
                <a:latin typeface="inherit"/>
              </a:rPr>
              <a:t>22 pays Africains. </a:t>
            </a:r>
            <a:endParaRPr lang="fr-FR" dirty="0">
              <a:solidFill>
                <a:srgbClr val="202124"/>
              </a:solidFill>
              <a:latin typeface="inherit"/>
            </a:endParaRPr>
          </a:p>
          <a:p>
            <a:pPr algn="just">
              <a:lnSpc>
                <a:spcPct val="107000"/>
              </a:lnSpc>
              <a:spcAft>
                <a:spcPts val="800"/>
              </a:spcAft>
            </a:pPr>
            <a:r>
              <a:rPr lang="fr-FR" dirty="0">
                <a:solidFill>
                  <a:schemeClr val="tx1">
                    <a:lumMod val="75000"/>
                    <a:lumOff val="25000"/>
                  </a:schemeClr>
                </a:solidFill>
              </a:rPr>
              <a:t> Fondée en Afrique de  l’ouest plus </a:t>
            </a:r>
            <a:r>
              <a:rPr lang="fr-FR" dirty="0" smtClean="0">
                <a:solidFill>
                  <a:schemeClr val="tx1">
                    <a:lumMod val="75000"/>
                    <a:lumOff val="25000"/>
                  </a:schemeClr>
                </a:solidFill>
              </a:rPr>
              <a:t>précisément </a:t>
            </a:r>
            <a:r>
              <a:rPr lang="fr-FR" dirty="0">
                <a:solidFill>
                  <a:schemeClr val="tx1">
                    <a:lumMod val="75000"/>
                    <a:lumOff val="25000"/>
                  </a:schemeClr>
                </a:solidFill>
              </a:rPr>
              <a:t>au Bénin, </a:t>
            </a:r>
            <a:r>
              <a:rPr lang="fr-FR" dirty="0" smtClean="0"/>
              <a:t>l’objectif général de l’organisation e</a:t>
            </a:r>
            <a:r>
              <a:rPr lang="fr-FR" dirty="0" smtClean="0">
                <a:solidFill>
                  <a:schemeClr val="tx1">
                    <a:lumMod val="75000"/>
                    <a:lumOff val="25000"/>
                  </a:schemeClr>
                </a:solidFill>
              </a:rPr>
              <a:t>st  de construire </a:t>
            </a:r>
            <a:r>
              <a:rPr lang="fr-FR" dirty="0">
                <a:solidFill>
                  <a:schemeClr val="tx1">
                    <a:lumMod val="75000"/>
                    <a:lumOff val="25000"/>
                  </a:schemeClr>
                </a:solidFill>
              </a:rPr>
              <a:t>une vie meilleure pour </a:t>
            </a:r>
            <a:r>
              <a:rPr lang="fr-FR" dirty="0" smtClean="0">
                <a:solidFill>
                  <a:schemeClr val="tx1">
                    <a:lumMod val="75000"/>
                    <a:lumOff val="25000"/>
                  </a:schemeClr>
                </a:solidFill>
              </a:rPr>
              <a:t>1million de femmes &amp; jeunes Africains à l’horizon 2030. </a:t>
            </a:r>
          </a:p>
          <a:p>
            <a:pPr algn="just">
              <a:lnSpc>
                <a:spcPct val="107000"/>
              </a:lnSpc>
              <a:spcAft>
                <a:spcPts val="800"/>
              </a:spcAft>
            </a:pPr>
            <a:endParaRPr lang="fr-FR" dirty="0">
              <a:solidFill>
                <a:schemeClr val="tx1">
                  <a:lumMod val="75000"/>
                  <a:lumOff val="25000"/>
                </a:schemeClr>
              </a:solidFill>
            </a:endParaRPr>
          </a:p>
          <a:p>
            <a:pPr algn="just">
              <a:lnSpc>
                <a:spcPct val="107000"/>
              </a:lnSpc>
              <a:spcAft>
                <a:spcPts val="800"/>
              </a:spcAft>
            </a:pPr>
            <a:r>
              <a:rPr lang="fr-FR" dirty="0" smtClean="0">
                <a:solidFill>
                  <a:schemeClr val="tx1">
                    <a:lumMod val="75000"/>
                    <a:lumOff val="25000"/>
                  </a:schemeClr>
                </a:solidFill>
              </a:rPr>
              <a:t>Nous travaillons au </a:t>
            </a:r>
            <a:r>
              <a:rPr lang="fr-FR" dirty="0">
                <a:solidFill>
                  <a:schemeClr val="tx1">
                    <a:lumMod val="75000"/>
                    <a:lumOff val="25000"/>
                  </a:schemeClr>
                </a:solidFill>
              </a:rPr>
              <a:t>renforcement de leurs </a:t>
            </a:r>
            <a:r>
              <a:rPr lang="fr-FR" dirty="0" smtClean="0">
                <a:solidFill>
                  <a:schemeClr val="tx1">
                    <a:lumMod val="75000"/>
                    <a:lumOff val="25000"/>
                  </a:schemeClr>
                </a:solidFill>
              </a:rPr>
              <a:t>capacités par la formation à l’entrepreneuriat, l’autonomisation des femmes</a:t>
            </a:r>
            <a:r>
              <a:rPr lang="fr-FR" dirty="0" smtClean="0">
                <a:solidFill>
                  <a:schemeClr val="tx1">
                    <a:lumMod val="75000"/>
                    <a:lumOff val="25000"/>
                  </a:schemeClr>
                </a:solidFill>
              </a:rPr>
              <a:t>, l’éducation des enfants,  </a:t>
            </a:r>
            <a:r>
              <a:rPr lang="fr-FR" dirty="0">
                <a:solidFill>
                  <a:schemeClr val="tx1">
                    <a:lumMod val="75000"/>
                    <a:lumOff val="25000"/>
                  </a:schemeClr>
                </a:solidFill>
              </a:rPr>
              <a:t>l’initiation au numérique, la technologie et les TIC, l'éducation financière</a:t>
            </a:r>
            <a:r>
              <a:rPr lang="fr-FR" dirty="0" smtClean="0">
                <a:solidFill>
                  <a:schemeClr val="tx1">
                    <a:lumMod val="75000"/>
                    <a:lumOff val="25000"/>
                  </a:schemeClr>
                </a:solidFill>
              </a:rPr>
              <a:t>, l’agrobusiness,</a:t>
            </a:r>
            <a:r>
              <a:rPr lang="fr-FR" dirty="0"/>
              <a:t> l’économie verte, </a:t>
            </a:r>
            <a:r>
              <a:rPr lang="fr-FR" dirty="0">
                <a:solidFill>
                  <a:schemeClr val="tx1">
                    <a:lumMod val="75000"/>
                    <a:lumOff val="25000"/>
                  </a:schemeClr>
                </a:solidFill>
              </a:rPr>
              <a:t>la promotion </a:t>
            </a:r>
            <a:r>
              <a:rPr lang="fr-FR" dirty="0" smtClean="0">
                <a:solidFill>
                  <a:schemeClr val="tx1">
                    <a:lumMod val="75000"/>
                    <a:lumOff val="25000"/>
                  </a:schemeClr>
                </a:solidFill>
              </a:rPr>
              <a:t>de </a:t>
            </a:r>
            <a:r>
              <a:rPr lang="fr-FR" dirty="0" smtClean="0"/>
              <a:t>l’éco-tourisme</a:t>
            </a:r>
            <a:r>
              <a:rPr lang="fr-FR" dirty="0">
                <a:solidFill>
                  <a:schemeClr val="tx1">
                    <a:lumMod val="75000"/>
                    <a:lumOff val="25000"/>
                  </a:schemeClr>
                </a:solidFill>
              </a:rPr>
              <a:t>,</a:t>
            </a:r>
            <a:r>
              <a:rPr lang="fr-FR" dirty="0" smtClean="0">
                <a:solidFill>
                  <a:schemeClr val="tx1">
                    <a:lumMod val="75000"/>
                    <a:lumOff val="25000"/>
                  </a:schemeClr>
                </a:solidFill>
              </a:rPr>
              <a:t> la recherche de solutions innovantes pour répondre aux défis pressants liés au changement climatique et pour finir la sensibilisation sur </a:t>
            </a:r>
            <a:r>
              <a:rPr lang="fr-FR" dirty="0">
                <a:solidFill>
                  <a:schemeClr val="tx1">
                    <a:lumMod val="75000"/>
                    <a:lumOff val="25000"/>
                  </a:schemeClr>
                </a:solidFill>
              </a:rPr>
              <a:t>les </a:t>
            </a:r>
            <a:r>
              <a:rPr lang="fr-FR" dirty="0" smtClean="0">
                <a:solidFill>
                  <a:schemeClr val="tx1">
                    <a:lumMod val="75000"/>
                    <a:lumOff val="25000"/>
                  </a:schemeClr>
                </a:solidFill>
              </a:rPr>
              <a:t>ODD pour une meilleure appropriation.</a:t>
            </a:r>
            <a:endParaRPr lang="fr-FR" dirty="0">
              <a:solidFill>
                <a:schemeClr val="tx1">
                  <a:lumMod val="75000"/>
                  <a:lumOff val="25000"/>
                </a:schemeClr>
              </a:solidFill>
            </a:endParaRPr>
          </a:p>
          <a:p>
            <a:pPr algn="just">
              <a:lnSpc>
                <a:spcPct val="107000"/>
              </a:lnSpc>
              <a:spcAft>
                <a:spcPts val="800"/>
              </a:spcAft>
            </a:pPr>
            <a:endParaRPr lang="fr-FR" dirty="0">
              <a:solidFill>
                <a:schemeClr val="tx1">
                  <a:lumMod val="75000"/>
                  <a:lumOff val="25000"/>
                </a:schemeClr>
              </a:solidFill>
            </a:endParaRPr>
          </a:p>
          <a:p>
            <a:pPr algn="just">
              <a:lnSpc>
                <a:spcPct val="107000"/>
              </a:lnSpc>
              <a:spcAft>
                <a:spcPts val="800"/>
              </a:spcAft>
            </a:pPr>
            <a:r>
              <a:rPr lang="fr-FR" dirty="0">
                <a:solidFill>
                  <a:schemeClr val="tx1">
                    <a:lumMod val="75000"/>
                    <a:lumOff val="25000"/>
                  </a:schemeClr>
                </a:solidFill>
              </a:rPr>
              <a:t>Nous prônons le développement à la base à travers la recherche de solutions adéquates et durables aux différents problèmes qui empêchent l’épanouissement holistique des populations en nous référant au contexte culturel, économique et social qu’est le </a:t>
            </a:r>
            <a:r>
              <a:rPr lang="fr-FR" dirty="0" smtClean="0">
                <a:solidFill>
                  <a:schemeClr val="tx1">
                    <a:lumMod val="75000"/>
                    <a:lumOff val="25000"/>
                  </a:schemeClr>
                </a:solidFill>
              </a:rPr>
              <a:t>leur...</a:t>
            </a:r>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2344" y="-216264"/>
            <a:ext cx="1282244" cy="1282244"/>
          </a:xfrm>
          <a:prstGeom prst="rect">
            <a:avLst/>
          </a:prstGeom>
        </p:spPr>
      </p:pic>
      <p:sp>
        <p:nvSpPr>
          <p:cNvPr id="9" name="Titre 1"/>
          <p:cNvSpPr txBox="1">
            <a:spLocks/>
          </p:cNvSpPr>
          <p:nvPr/>
        </p:nvSpPr>
        <p:spPr>
          <a:xfrm>
            <a:off x="2134592" y="447606"/>
            <a:ext cx="4832878" cy="363269"/>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400" b="1" dirty="0">
                <a:solidFill>
                  <a:srgbClr val="D81652"/>
                </a:solidFill>
                <a:latin typeface="+mn-lt"/>
                <a:ea typeface="+mn-ea"/>
                <a:cs typeface="+mn-cs"/>
              </a:rPr>
              <a:t>WOMEN IMPACT </a:t>
            </a:r>
            <a:r>
              <a:rPr lang="fr-FR" sz="2400" b="1" dirty="0" smtClean="0">
                <a:solidFill>
                  <a:srgbClr val="D81652"/>
                </a:solidFill>
                <a:latin typeface="+mn-lt"/>
                <a:ea typeface="+mn-ea"/>
                <a:cs typeface="+mn-cs"/>
              </a:rPr>
              <a:t>NETWORK - WIN</a:t>
            </a:r>
            <a:endParaRPr lang="fr-FR" sz="2400" b="1" dirty="0">
              <a:solidFill>
                <a:srgbClr val="D81652"/>
              </a:solidFill>
              <a:latin typeface="+mn-lt"/>
              <a:ea typeface="+mn-ea"/>
              <a:cs typeface="+mn-cs"/>
            </a:endParaRPr>
          </a:p>
        </p:txBody>
      </p:sp>
    </p:spTree>
    <p:extLst>
      <p:ext uri="{BB962C8B-B14F-4D97-AF65-F5344CB8AC3E}">
        <p14:creationId xmlns:p14="http://schemas.microsoft.com/office/powerpoint/2010/main" val="14265685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9972" y="1065980"/>
            <a:ext cx="9576609" cy="1477328"/>
          </a:xfrm>
          <a:prstGeom prst="rect">
            <a:avLst/>
          </a:prstGeom>
        </p:spPr>
        <p:txBody>
          <a:bodyPr wrap="square">
            <a:spAutoFit/>
          </a:bodyPr>
          <a:lstStyle/>
          <a:p>
            <a:r>
              <a:rPr lang="fr-FR" b="1" dirty="0" smtClean="0"/>
              <a:t>En 2050</a:t>
            </a:r>
            <a:r>
              <a:rPr lang="fr-FR" b="1" dirty="0"/>
              <a:t>, plus de 700 millions d’êtres humains vivront dans des pays </a:t>
            </a:r>
            <a:r>
              <a:rPr lang="fr-FR" b="1" dirty="0" smtClean="0"/>
              <a:t>francophones et anglophones. </a:t>
            </a:r>
            <a:r>
              <a:rPr lang="fr-FR" b="1" dirty="0"/>
              <a:t>Les 3/4 d’entre eux auront moins de trente ans et vivront en </a:t>
            </a:r>
            <a:r>
              <a:rPr lang="fr-FR" b="1" dirty="0">
                <a:solidFill>
                  <a:srgbClr val="D81652"/>
                </a:solidFill>
              </a:rPr>
              <a:t>Afrique</a:t>
            </a:r>
            <a:r>
              <a:rPr lang="fr-FR" b="1" dirty="0"/>
              <a:t>. C’est à la fois un grand espoir et un immense défi </a:t>
            </a:r>
            <a:r>
              <a:rPr lang="fr-FR" b="1" dirty="0" smtClean="0"/>
              <a:t>: </a:t>
            </a:r>
            <a:r>
              <a:rPr lang="fr-FR" b="1" dirty="0"/>
              <a:t>un espoir car l’avenir </a:t>
            </a:r>
            <a:r>
              <a:rPr lang="fr-FR" b="1" dirty="0" smtClean="0"/>
              <a:t>du continent dépendra de sa jeunesse ; </a:t>
            </a:r>
            <a:r>
              <a:rPr lang="fr-FR" b="1" dirty="0"/>
              <a:t>un défi, car il faut leur offrir des </a:t>
            </a:r>
            <a:r>
              <a:rPr lang="fr-FR" b="1" dirty="0" smtClean="0"/>
              <a:t>perspectives pour un autonomisation pérenne.</a:t>
            </a:r>
            <a:endParaRPr lang="fr-FR" b="1" dirty="0"/>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2344" y="-216264"/>
            <a:ext cx="1282244" cy="1282244"/>
          </a:xfrm>
          <a:prstGeom prst="rect">
            <a:avLst/>
          </a:prstGeom>
        </p:spPr>
      </p:pic>
      <p:sp>
        <p:nvSpPr>
          <p:cNvPr id="9" name="Titre 1"/>
          <p:cNvSpPr txBox="1">
            <a:spLocks/>
          </p:cNvSpPr>
          <p:nvPr/>
        </p:nvSpPr>
        <p:spPr>
          <a:xfrm>
            <a:off x="2134592" y="447606"/>
            <a:ext cx="4832878" cy="363269"/>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400" b="1" dirty="0">
                <a:solidFill>
                  <a:srgbClr val="D81652"/>
                </a:solidFill>
                <a:latin typeface="+mn-lt"/>
                <a:ea typeface="+mn-ea"/>
                <a:cs typeface="+mn-cs"/>
              </a:rPr>
              <a:t>WOMEN IMPACT </a:t>
            </a:r>
            <a:r>
              <a:rPr lang="fr-FR" sz="2400" b="1" dirty="0" smtClean="0">
                <a:solidFill>
                  <a:srgbClr val="D81652"/>
                </a:solidFill>
                <a:latin typeface="+mn-lt"/>
                <a:ea typeface="+mn-ea"/>
                <a:cs typeface="+mn-cs"/>
              </a:rPr>
              <a:t>NETWORK - WIN</a:t>
            </a:r>
            <a:endParaRPr lang="fr-FR" sz="2400" b="1" dirty="0">
              <a:solidFill>
                <a:srgbClr val="D81652"/>
              </a:solidFill>
              <a:latin typeface="+mn-lt"/>
              <a:ea typeface="+mn-ea"/>
              <a:cs typeface="+mn-cs"/>
            </a:endParaRPr>
          </a:p>
        </p:txBody>
      </p:sp>
      <p:pic>
        <p:nvPicPr>
          <p:cNvPr id="5" name="Image 4"/>
          <p:cNvPicPr>
            <a:picLocks noChangeAspect="1"/>
          </p:cNvPicPr>
          <p:nvPr/>
        </p:nvPicPr>
        <p:blipFill rotWithShape="1">
          <a:blip r:embed="rId3">
            <a:extLst>
              <a:ext uri="{28A0092B-C50C-407E-A947-70E740481C1C}">
                <a14:useLocalDpi xmlns:a14="http://schemas.microsoft.com/office/drawing/2010/main" val="0"/>
              </a:ext>
            </a:extLst>
          </a:blip>
          <a:srcRect t="35958" b="3715"/>
          <a:stretch/>
        </p:blipFill>
        <p:spPr>
          <a:xfrm>
            <a:off x="390659" y="2903916"/>
            <a:ext cx="5121499" cy="3445368"/>
          </a:xfrm>
          <a:prstGeom prst="rect">
            <a:avLst/>
          </a:prstGeom>
        </p:spPr>
      </p:pic>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9822" y="2891307"/>
            <a:ext cx="4525851" cy="3457977"/>
          </a:xfrm>
          <a:prstGeom prst="rect">
            <a:avLst/>
          </a:prstGeom>
        </p:spPr>
      </p:pic>
    </p:spTree>
    <p:extLst>
      <p:ext uri="{BB962C8B-B14F-4D97-AF65-F5344CB8AC3E}">
        <p14:creationId xmlns:p14="http://schemas.microsoft.com/office/powerpoint/2010/main" val="28547231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1587" y="291070"/>
            <a:ext cx="9576609" cy="923330"/>
          </a:xfrm>
          <a:prstGeom prst="rect">
            <a:avLst/>
          </a:prstGeom>
        </p:spPr>
        <p:txBody>
          <a:bodyPr wrap="square">
            <a:spAutoFit/>
          </a:bodyPr>
          <a:lstStyle/>
          <a:p>
            <a:r>
              <a:rPr lang="fr-FR" b="1" dirty="0" smtClean="0"/>
              <a:t>Nous accompagnons la scolarisation  de 50 filles et garçons sourds et muets. Parmi ces enfants que nous solarisons, deux petites filles sourdes et muettes aux yeux bleus, un phénomène qui est traité d’enfants sorciers car différents par la couleur de leurs yeux</a:t>
            </a:r>
            <a:endParaRPr lang="fr-FR" b="1" dirty="0"/>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2344" y="-216264"/>
            <a:ext cx="1282244" cy="1282244"/>
          </a:xfrm>
          <a:prstGeom prst="rect">
            <a:avLst/>
          </a:prstGeom>
        </p:spPr>
      </p:pic>
      <p:sp>
        <p:nvSpPr>
          <p:cNvPr id="9" name="Titre 1"/>
          <p:cNvSpPr txBox="1">
            <a:spLocks/>
          </p:cNvSpPr>
          <p:nvPr/>
        </p:nvSpPr>
        <p:spPr>
          <a:xfrm>
            <a:off x="2134591" y="-2560"/>
            <a:ext cx="4969593" cy="363269"/>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400" b="1" dirty="0">
                <a:solidFill>
                  <a:srgbClr val="D81652"/>
                </a:solidFill>
                <a:latin typeface="+mn-lt"/>
                <a:ea typeface="+mn-ea"/>
                <a:cs typeface="+mn-cs"/>
              </a:rPr>
              <a:t>l’éducation des </a:t>
            </a:r>
            <a:r>
              <a:rPr lang="fr-FR" sz="2400" b="1" dirty="0" smtClean="0">
                <a:solidFill>
                  <a:srgbClr val="D81652"/>
                </a:solidFill>
                <a:latin typeface="+mn-lt"/>
                <a:ea typeface="+mn-ea"/>
                <a:cs typeface="+mn-cs"/>
              </a:rPr>
              <a:t>enfants sourds</a:t>
            </a:r>
            <a:endParaRPr lang="fr-FR" sz="2400" b="1" dirty="0">
              <a:solidFill>
                <a:srgbClr val="D81652"/>
              </a:solidFill>
              <a:latin typeface="+mn-lt"/>
              <a:ea typeface="+mn-ea"/>
              <a:cs typeface="+mn-cs"/>
            </a:endParaRPr>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587" y="1214400"/>
            <a:ext cx="4078984" cy="5643600"/>
          </a:xfrm>
          <a:prstGeom prst="rect">
            <a:avLst/>
          </a:prstGeom>
        </p:spPr>
      </p:pic>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3370" y="3918523"/>
            <a:ext cx="7241038" cy="2939477"/>
          </a:xfrm>
          <a:prstGeom prst="rect">
            <a:avLst/>
          </a:prstGeom>
        </p:spPr>
      </p:pic>
      <p:pic>
        <p:nvPicPr>
          <p:cNvPr id="8" name="Imag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76756" y="1214400"/>
            <a:ext cx="3207652" cy="2704123"/>
          </a:xfrm>
          <a:prstGeom prst="rect">
            <a:avLst/>
          </a:prstGeom>
        </p:spPr>
      </p:pic>
      <p:pic>
        <p:nvPicPr>
          <p:cNvPr id="10" name="Imag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0571" y="1214399"/>
            <a:ext cx="4056185" cy="2704123"/>
          </a:xfrm>
          <a:prstGeom prst="rect">
            <a:avLst/>
          </a:prstGeom>
        </p:spPr>
      </p:pic>
    </p:spTree>
    <p:extLst>
      <p:ext uri="{BB962C8B-B14F-4D97-AF65-F5344CB8AC3E}">
        <p14:creationId xmlns:p14="http://schemas.microsoft.com/office/powerpoint/2010/main" val="32358661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1587" y="291070"/>
            <a:ext cx="9576609" cy="369332"/>
          </a:xfrm>
          <a:prstGeom prst="rect">
            <a:avLst/>
          </a:prstGeom>
        </p:spPr>
        <p:txBody>
          <a:bodyPr wrap="square">
            <a:spAutoFit/>
          </a:bodyPr>
          <a:lstStyle/>
          <a:p>
            <a:r>
              <a:rPr lang="fr-FR" b="1" dirty="0" smtClean="0"/>
              <a:t>Nous accompagnons la scolarisation  de 20 jeunes filles</a:t>
            </a:r>
            <a:endParaRPr lang="fr-FR" b="1" dirty="0"/>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2344" y="-216264"/>
            <a:ext cx="1282244" cy="1282244"/>
          </a:xfrm>
          <a:prstGeom prst="rect">
            <a:avLst/>
          </a:prstGeom>
        </p:spPr>
      </p:pic>
      <p:sp>
        <p:nvSpPr>
          <p:cNvPr id="9" name="Titre 1"/>
          <p:cNvSpPr txBox="1">
            <a:spLocks/>
          </p:cNvSpPr>
          <p:nvPr/>
        </p:nvSpPr>
        <p:spPr>
          <a:xfrm>
            <a:off x="0" y="-2560"/>
            <a:ext cx="10381957" cy="363269"/>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400" b="1" dirty="0">
                <a:solidFill>
                  <a:srgbClr val="D81652"/>
                </a:solidFill>
                <a:latin typeface="+mn-lt"/>
                <a:ea typeface="+mn-ea"/>
                <a:cs typeface="+mn-cs"/>
              </a:rPr>
              <a:t>l’éducation des </a:t>
            </a:r>
            <a:r>
              <a:rPr lang="fr-FR" sz="2400" b="1" dirty="0" smtClean="0">
                <a:solidFill>
                  <a:srgbClr val="D81652"/>
                </a:solidFill>
                <a:latin typeface="+mn-lt"/>
                <a:ea typeface="+mn-ea"/>
                <a:cs typeface="+mn-cs"/>
              </a:rPr>
              <a:t>enfants de parents souffrant de la </a:t>
            </a:r>
            <a:r>
              <a:rPr lang="fr-FR" sz="2400" b="1" dirty="0" err="1" smtClean="0">
                <a:solidFill>
                  <a:srgbClr val="D81652"/>
                </a:solidFill>
                <a:latin typeface="+mn-lt"/>
                <a:ea typeface="+mn-ea"/>
                <a:cs typeface="+mn-cs"/>
              </a:rPr>
              <a:t>lépre</a:t>
            </a:r>
            <a:r>
              <a:rPr lang="fr-FR" sz="2400" b="1" dirty="0" smtClean="0">
                <a:solidFill>
                  <a:srgbClr val="D81652"/>
                </a:solidFill>
                <a:latin typeface="+mn-lt"/>
                <a:ea typeface="+mn-ea"/>
                <a:cs typeface="+mn-cs"/>
              </a:rPr>
              <a:t> </a:t>
            </a:r>
            <a:r>
              <a:rPr lang="fr-FR" sz="2400" b="1" dirty="0" err="1" smtClean="0">
                <a:solidFill>
                  <a:srgbClr val="D81652"/>
                </a:solidFill>
                <a:latin typeface="+mn-lt"/>
                <a:ea typeface="+mn-ea"/>
                <a:cs typeface="+mn-cs"/>
              </a:rPr>
              <a:t>Pkomassè</a:t>
            </a:r>
            <a:endParaRPr lang="fr-FR" sz="2400" b="1" dirty="0">
              <a:solidFill>
                <a:srgbClr val="D81652"/>
              </a:solidFill>
              <a:latin typeface="+mn-lt"/>
              <a:ea typeface="+mn-ea"/>
              <a:cs typeface="+mn-cs"/>
            </a:endParaRPr>
          </a:p>
        </p:txBody>
      </p:sp>
      <p:pic>
        <p:nvPicPr>
          <p:cNvPr id="5" name="Image 4"/>
          <p:cNvPicPr>
            <a:picLocks noChangeAspect="1"/>
          </p:cNvPicPr>
          <p:nvPr/>
        </p:nvPicPr>
        <p:blipFill rotWithShape="1">
          <a:blip r:embed="rId3">
            <a:extLst>
              <a:ext uri="{28A0092B-C50C-407E-A947-70E740481C1C}">
                <a14:useLocalDpi xmlns:a14="http://schemas.microsoft.com/office/drawing/2010/main" val="0"/>
              </a:ext>
            </a:extLst>
          </a:blip>
          <a:srcRect b="18941"/>
          <a:stretch/>
        </p:blipFill>
        <p:spPr>
          <a:xfrm>
            <a:off x="1448972" y="3884878"/>
            <a:ext cx="8932985" cy="2912916"/>
          </a:xfrm>
          <a:prstGeom prst="rect">
            <a:avLst/>
          </a:prstGeom>
        </p:spPr>
      </p:pic>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9890" y="824080"/>
            <a:ext cx="5672453" cy="3060798"/>
          </a:xfrm>
          <a:prstGeom prst="rect">
            <a:avLst/>
          </a:prstGeom>
        </p:spPr>
      </p:pic>
      <p:pic>
        <p:nvPicPr>
          <p:cNvPr id="11" name="Imag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824080"/>
            <a:ext cx="5029889" cy="3141201"/>
          </a:xfrm>
          <a:prstGeom prst="rect">
            <a:avLst/>
          </a:prstGeom>
        </p:spPr>
      </p:pic>
    </p:spTree>
    <p:extLst>
      <p:ext uri="{BB962C8B-B14F-4D97-AF65-F5344CB8AC3E}">
        <p14:creationId xmlns:p14="http://schemas.microsoft.com/office/powerpoint/2010/main" val="8012413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2344" y="-216264"/>
            <a:ext cx="1282244" cy="1282244"/>
          </a:xfrm>
          <a:prstGeom prst="rect">
            <a:avLst/>
          </a:prstGeom>
        </p:spPr>
      </p:pic>
      <p:sp>
        <p:nvSpPr>
          <p:cNvPr id="9" name="Titre 1"/>
          <p:cNvSpPr txBox="1">
            <a:spLocks/>
          </p:cNvSpPr>
          <p:nvPr/>
        </p:nvSpPr>
        <p:spPr>
          <a:xfrm>
            <a:off x="2278966" y="187250"/>
            <a:ext cx="5514536" cy="363269"/>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400" b="1" dirty="0">
                <a:solidFill>
                  <a:srgbClr val="D81652"/>
                </a:solidFill>
                <a:latin typeface="+mn-lt"/>
                <a:ea typeface="+mn-ea"/>
                <a:cs typeface="+mn-cs"/>
              </a:rPr>
              <a:t>l’éducation des </a:t>
            </a:r>
            <a:r>
              <a:rPr lang="fr-FR" sz="2400" b="1" dirty="0" smtClean="0">
                <a:solidFill>
                  <a:srgbClr val="D81652"/>
                </a:solidFill>
                <a:latin typeface="+mn-lt"/>
                <a:ea typeface="+mn-ea"/>
                <a:cs typeface="+mn-cs"/>
              </a:rPr>
              <a:t>enfants orphelins </a:t>
            </a:r>
            <a:endParaRPr lang="fr-FR" sz="2400" b="1" dirty="0">
              <a:solidFill>
                <a:srgbClr val="D81652"/>
              </a:solidFill>
              <a:latin typeface="+mn-lt"/>
              <a:ea typeface="+mn-ea"/>
              <a:cs typeface="+mn-cs"/>
            </a:endParaRPr>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2498" y="857250"/>
            <a:ext cx="4745502" cy="5143500"/>
          </a:xfrm>
          <a:prstGeom prst="rect">
            <a:avLst/>
          </a:prstGeom>
        </p:spPr>
      </p:pic>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400" y="645476"/>
            <a:ext cx="11336123" cy="6096000"/>
          </a:xfrm>
          <a:prstGeom prst="rect">
            <a:avLst/>
          </a:prstGeom>
        </p:spPr>
      </p:pic>
    </p:spTree>
    <p:extLst>
      <p:ext uri="{BB962C8B-B14F-4D97-AF65-F5344CB8AC3E}">
        <p14:creationId xmlns:p14="http://schemas.microsoft.com/office/powerpoint/2010/main" val="25936919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2344" y="-216264"/>
            <a:ext cx="1282244" cy="1282244"/>
          </a:xfrm>
          <a:prstGeom prst="rect">
            <a:avLst/>
          </a:prstGeom>
        </p:spPr>
      </p:pic>
      <p:sp>
        <p:nvSpPr>
          <p:cNvPr id="9" name="Titre 1"/>
          <p:cNvSpPr txBox="1">
            <a:spLocks/>
          </p:cNvSpPr>
          <p:nvPr/>
        </p:nvSpPr>
        <p:spPr>
          <a:xfrm>
            <a:off x="1007190" y="243223"/>
            <a:ext cx="4832878" cy="363269"/>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400" b="1" dirty="0">
                <a:solidFill>
                  <a:srgbClr val="D81652"/>
                </a:solidFill>
                <a:latin typeface="+mn-lt"/>
                <a:ea typeface="+mn-ea"/>
                <a:cs typeface="+mn-cs"/>
              </a:rPr>
              <a:t>WOMEN IMPACT </a:t>
            </a:r>
            <a:r>
              <a:rPr lang="fr-FR" sz="2400" b="1" dirty="0" smtClean="0">
                <a:solidFill>
                  <a:srgbClr val="D81652"/>
                </a:solidFill>
                <a:latin typeface="+mn-lt"/>
                <a:ea typeface="+mn-ea"/>
                <a:cs typeface="+mn-cs"/>
              </a:rPr>
              <a:t>NETWORK - WIN</a:t>
            </a:r>
            <a:endParaRPr lang="fr-FR" sz="2400" b="1" dirty="0">
              <a:solidFill>
                <a:srgbClr val="D81652"/>
              </a:solidFill>
              <a:latin typeface="+mn-lt"/>
              <a:ea typeface="+mn-ea"/>
              <a:cs typeface="+mn-cs"/>
            </a:endParaRPr>
          </a:p>
        </p:txBody>
      </p:sp>
      <p:sp>
        <p:nvSpPr>
          <p:cNvPr id="4" name="Rectangle 3"/>
          <p:cNvSpPr/>
          <p:nvPr/>
        </p:nvSpPr>
        <p:spPr>
          <a:xfrm>
            <a:off x="425003" y="1166842"/>
            <a:ext cx="7199291" cy="4524315"/>
          </a:xfrm>
          <a:prstGeom prst="rect">
            <a:avLst/>
          </a:prstGeom>
          <a:ln>
            <a:solidFill>
              <a:srgbClr val="00B050"/>
            </a:solidFill>
          </a:ln>
        </p:spPr>
        <p:txBody>
          <a:bodyPr wrap="square">
            <a:spAutoFit/>
          </a:bodyPr>
          <a:lstStyle/>
          <a:p>
            <a:r>
              <a:rPr lang="fr-FR" sz="2400" dirty="0"/>
              <a:t>Une nouvelle mission avec Solidarité Laïque pour contribuer à la recherche de solutions nouvelles sur l’autonomisation des jeunes des zones périphériques des grandes villes tout en prenant en compte les problématiques liées à leur environnement</a:t>
            </a:r>
            <a:r>
              <a:rPr lang="fr-FR" sz="2400" dirty="0" smtClean="0"/>
              <a:t>...</a:t>
            </a:r>
          </a:p>
          <a:p>
            <a:endParaRPr lang="fr-FR" sz="2400" dirty="0"/>
          </a:p>
          <a:p>
            <a:r>
              <a:rPr lang="fr-FR" sz="2400" dirty="0" smtClean="0"/>
              <a:t>Au </a:t>
            </a:r>
            <a:r>
              <a:rPr lang="fr-FR" sz="2400" dirty="0"/>
              <a:t>travers du programme </a:t>
            </a:r>
            <a:r>
              <a:rPr lang="fr-FR" sz="2400" dirty="0">
                <a:solidFill>
                  <a:srgbClr val="D81652"/>
                </a:solidFill>
              </a:rPr>
              <a:t>COMPÉTENCE POUR DEMAIN</a:t>
            </a:r>
            <a:r>
              <a:rPr lang="fr-FR" sz="2400" dirty="0"/>
              <a:t>, avec la mise en place des </a:t>
            </a:r>
            <a:r>
              <a:rPr lang="fr-FR" sz="2400" dirty="0">
                <a:solidFill>
                  <a:schemeClr val="accent2">
                    <a:lumMod val="75000"/>
                  </a:schemeClr>
                </a:solidFill>
              </a:rPr>
              <a:t>LABIS - Laboratoire d'Innovation Sociale</a:t>
            </a:r>
            <a:r>
              <a:rPr lang="fr-FR" sz="2400" dirty="0"/>
              <a:t>...Renforcement de l'employabilité et de la participation citoyenne des jeunes de 06 pays d’Afrique de l'Ouest.</a:t>
            </a:r>
          </a:p>
        </p:txBody>
      </p:sp>
      <p:pic>
        <p:nvPicPr>
          <p:cNvPr id="7" name="Image 6"/>
          <p:cNvPicPr>
            <a:picLocks noChangeAspect="1"/>
          </p:cNvPicPr>
          <p:nvPr/>
        </p:nvPicPr>
        <p:blipFill rotWithShape="1">
          <a:blip r:embed="rId3">
            <a:extLst>
              <a:ext uri="{28A0092B-C50C-407E-A947-70E740481C1C}">
                <a14:useLocalDpi xmlns:a14="http://schemas.microsoft.com/office/drawing/2010/main" val="0"/>
              </a:ext>
            </a:extLst>
          </a:blip>
          <a:srcRect l="48967" t="23538" r="18638" b="11180"/>
          <a:stretch/>
        </p:blipFill>
        <p:spPr>
          <a:xfrm>
            <a:off x="7933386" y="0"/>
            <a:ext cx="4250029" cy="6858000"/>
          </a:xfrm>
          <a:prstGeom prst="rect">
            <a:avLst/>
          </a:prstGeom>
        </p:spPr>
      </p:pic>
    </p:spTree>
    <p:extLst>
      <p:ext uri="{BB962C8B-B14F-4D97-AF65-F5344CB8AC3E}">
        <p14:creationId xmlns:p14="http://schemas.microsoft.com/office/powerpoint/2010/main" val="37863953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2.png"/>
          <p:cNvPicPr/>
          <p:nvPr/>
        </p:nvPicPr>
        <p:blipFill>
          <a:blip r:embed="rId2"/>
          <a:srcRect/>
          <a:stretch>
            <a:fillRect/>
          </a:stretch>
        </p:blipFill>
        <p:spPr>
          <a:xfrm>
            <a:off x="0" y="225381"/>
            <a:ext cx="1467897" cy="1197734"/>
          </a:xfrm>
          <a:prstGeom prst="rect">
            <a:avLst/>
          </a:prstGeom>
          <a:ln/>
        </p:spPr>
      </p:pic>
      <p:pic>
        <p:nvPicPr>
          <p:cNvPr id="6" name="Imag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79555" y="0"/>
            <a:ext cx="1282244" cy="1282244"/>
          </a:xfrm>
          <a:prstGeom prst="rect">
            <a:avLst/>
          </a:prstGeom>
        </p:spPr>
      </p:pic>
      <p:sp>
        <p:nvSpPr>
          <p:cNvPr id="9" name="Titre 1"/>
          <p:cNvSpPr txBox="1">
            <a:spLocks/>
          </p:cNvSpPr>
          <p:nvPr/>
        </p:nvSpPr>
        <p:spPr>
          <a:xfrm>
            <a:off x="3377186" y="433649"/>
            <a:ext cx="3631346" cy="414946"/>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lnSpc>
                <a:spcPct val="115000"/>
              </a:lnSpc>
            </a:pPr>
            <a:r>
              <a:rPr lang="fr-FR" sz="2400" b="1" dirty="0" smtClean="0">
                <a:solidFill>
                  <a:srgbClr val="D81652"/>
                </a:solidFill>
              </a:rPr>
              <a:t>Climate Chance 2019</a:t>
            </a:r>
            <a:endParaRPr lang="fr-FR" sz="2400" b="1" dirty="0">
              <a:solidFill>
                <a:schemeClr val="accent2">
                  <a:lumMod val="50000"/>
                </a:schemeClr>
              </a:solidFill>
            </a:endParaRPr>
          </a:p>
        </p:txBody>
      </p:sp>
      <p:sp>
        <p:nvSpPr>
          <p:cNvPr id="7" name="Rectangle 6"/>
          <p:cNvSpPr/>
          <p:nvPr/>
        </p:nvSpPr>
        <p:spPr>
          <a:xfrm>
            <a:off x="1580335" y="1039722"/>
            <a:ext cx="7885636" cy="446276"/>
          </a:xfrm>
          <a:prstGeom prst="rect">
            <a:avLst/>
          </a:prstGeom>
        </p:spPr>
        <p:txBody>
          <a:bodyPr wrap="square">
            <a:spAutoFit/>
          </a:bodyPr>
          <a:lstStyle/>
          <a:p>
            <a:pPr algn="ctr">
              <a:lnSpc>
                <a:spcPct val="115000"/>
              </a:lnSpc>
              <a:spcAft>
                <a:spcPts val="0"/>
              </a:spcAft>
            </a:pPr>
            <a:r>
              <a:rPr lang="fr-FR" sz="2000" b="1" dirty="0" smtClean="0">
                <a:solidFill>
                  <a:srgbClr val="0000FF"/>
                </a:solidFill>
                <a:latin typeface="Calibri" panose="020F0502020204030204" pitchFamily="34" charset="0"/>
                <a:ea typeface="Calibri" panose="020F0502020204030204" pitchFamily="34" charset="0"/>
                <a:cs typeface="Calibri" panose="020F0502020204030204" pitchFamily="34" charset="0"/>
              </a:rPr>
              <a:t>Accès </a:t>
            </a:r>
            <a:r>
              <a:rPr lang="fr-FR" sz="2000" b="1" dirty="0">
                <a:solidFill>
                  <a:srgbClr val="0000FF"/>
                </a:solidFill>
                <a:latin typeface="Calibri" panose="020F0502020204030204" pitchFamily="34" charset="0"/>
                <a:ea typeface="Calibri" panose="020F0502020204030204" pitchFamily="34" charset="0"/>
                <a:cs typeface="Calibri" panose="020F0502020204030204" pitchFamily="34" charset="0"/>
              </a:rPr>
              <a:t>aux financements climat pour les acteurs non-étatiques en </a:t>
            </a:r>
            <a:r>
              <a:rPr lang="fr-FR" sz="2000" b="1" dirty="0" smtClean="0">
                <a:solidFill>
                  <a:srgbClr val="0000FF"/>
                </a:solidFill>
                <a:latin typeface="Calibri" panose="020F0502020204030204" pitchFamily="34" charset="0"/>
                <a:ea typeface="Calibri" panose="020F0502020204030204" pitchFamily="34" charset="0"/>
                <a:cs typeface="Calibri" panose="020F0502020204030204" pitchFamily="34" charset="0"/>
              </a:rPr>
              <a:t>Afrique</a:t>
            </a:r>
          </a:p>
        </p:txBody>
      </p:sp>
      <p:pic>
        <p:nvPicPr>
          <p:cNvPr id="2"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002" y="1607006"/>
            <a:ext cx="3348508" cy="3943788"/>
          </a:xfrm>
          <a:prstGeom prst="rect">
            <a:avLst/>
          </a:prstGeom>
        </p:spPr>
      </p:pic>
      <p:pic>
        <p:nvPicPr>
          <p:cNvPr id="12" name="Imag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82627" y="1607005"/>
            <a:ext cx="2966420" cy="3943789"/>
          </a:xfrm>
          <a:prstGeom prst="rect">
            <a:avLst/>
          </a:prstGeom>
        </p:spPr>
      </p:pic>
      <p:pic>
        <p:nvPicPr>
          <p:cNvPr id="13" name="Imag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73510" y="1607005"/>
            <a:ext cx="3709116" cy="3943789"/>
          </a:xfrm>
          <a:prstGeom prst="rect">
            <a:avLst/>
          </a:prstGeom>
        </p:spPr>
      </p:pic>
      <p:sp>
        <p:nvSpPr>
          <p:cNvPr id="14" name="Rectangle 13"/>
          <p:cNvSpPr/>
          <p:nvPr/>
        </p:nvSpPr>
        <p:spPr>
          <a:xfrm>
            <a:off x="1197441" y="5734685"/>
            <a:ext cx="7676103" cy="727571"/>
          </a:xfrm>
          <a:prstGeom prst="rect">
            <a:avLst/>
          </a:prstGeom>
        </p:spPr>
        <p:txBody>
          <a:bodyPr wrap="square">
            <a:spAutoFit/>
          </a:bodyPr>
          <a:lstStyle/>
          <a:p>
            <a:pPr algn="just">
              <a:lnSpc>
                <a:spcPct val="107000"/>
              </a:lnSpc>
              <a:spcAft>
                <a:spcPts val="800"/>
              </a:spcAft>
            </a:pPr>
            <a:r>
              <a:rPr lang="fr-FR" sz="2000" dirty="0">
                <a:solidFill>
                  <a:schemeClr val="tx1">
                    <a:lumMod val="75000"/>
                    <a:lumOff val="25000"/>
                  </a:schemeClr>
                </a:solidFill>
              </a:rPr>
              <a:t>Nous travaillons  sur l’</a:t>
            </a:r>
            <a:r>
              <a:rPr lang="fr-FR" sz="2000" dirty="0">
                <a:solidFill>
                  <a:schemeClr val="accent2">
                    <a:lumMod val="50000"/>
                  </a:schemeClr>
                </a:solidFill>
              </a:rPr>
              <a:t>environnement</a:t>
            </a:r>
            <a:r>
              <a:rPr lang="fr-FR" sz="2000" dirty="0">
                <a:solidFill>
                  <a:schemeClr val="tx1">
                    <a:lumMod val="75000"/>
                    <a:lumOff val="25000"/>
                  </a:schemeClr>
                </a:solidFill>
              </a:rPr>
              <a:t> et les problématiques de santé liés aux fumées/charbon, notamment chez les femmes. </a:t>
            </a:r>
            <a:endParaRPr lang="fr-FR" dirty="0">
              <a:solidFill>
                <a:schemeClr val="tx1">
                  <a:lumMod val="75000"/>
                  <a:lumOff val="25000"/>
                </a:schemeClr>
              </a:solidFill>
            </a:endParaRPr>
          </a:p>
        </p:txBody>
      </p:sp>
    </p:spTree>
    <p:extLst>
      <p:ext uri="{BB962C8B-B14F-4D97-AF65-F5344CB8AC3E}">
        <p14:creationId xmlns:p14="http://schemas.microsoft.com/office/powerpoint/2010/main" val="3871779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9555" y="0"/>
            <a:ext cx="1282244" cy="1282244"/>
          </a:xfrm>
          <a:prstGeom prst="rect">
            <a:avLst/>
          </a:prstGeom>
        </p:spPr>
      </p:pic>
      <p:sp>
        <p:nvSpPr>
          <p:cNvPr id="10" name="Titre 1"/>
          <p:cNvSpPr txBox="1">
            <a:spLocks/>
          </p:cNvSpPr>
          <p:nvPr/>
        </p:nvSpPr>
        <p:spPr>
          <a:xfrm>
            <a:off x="2215167" y="1125258"/>
            <a:ext cx="7070502" cy="1002873"/>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buFont typeface="Wingdings" panose="05000000000000000000" pitchFamily="2" charset="2"/>
              <a:buChar char="ü"/>
            </a:pPr>
            <a:r>
              <a:rPr lang="fr-FR" sz="1800" dirty="0" smtClean="0">
                <a:solidFill>
                  <a:schemeClr val="tx1">
                    <a:lumMod val="75000"/>
                    <a:lumOff val="25000"/>
                  </a:schemeClr>
                </a:solidFill>
              </a:rPr>
              <a:t>Agence gouvernementale Béninoise </a:t>
            </a:r>
            <a:r>
              <a:rPr lang="fr-FR" sz="1800" dirty="0" smtClean="0">
                <a:solidFill>
                  <a:schemeClr val="accent2">
                    <a:lumMod val="50000"/>
                  </a:schemeClr>
                </a:solidFill>
              </a:rPr>
              <a:t>ADEJ </a:t>
            </a:r>
            <a:r>
              <a:rPr lang="fr-FR" sz="1800" dirty="0">
                <a:solidFill>
                  <a:schemeClr val="accent2">
                    <a:lumMod val="50000"/>
                  </a:schemeClr>
                </a:solidFill>
              </a:rPr>
              <a:t>- TEERAA Africa </a:t>
            </a:r>
          </a:p>
          <a:p>
            <a:pPr marL="285750" indent="-285750">
              <a:buFont typeface="Wingdings" panose="05000000000000000000" pitchFamily="2" charset="2"/>
              <a:buChar char="ü"/>
            </a:pPr>
            <a:r>
              <a:rPr lang="fr-FR" sz="1800" dirty="0" err="1" smtClean="0">
                <a:solidFill>
                  <a:schemeClr val="accent2">
                    <a:lumMod val="50000"/>
                  </a:schemeClr>
                </a:solidFill>
                <a:latin typeface="+mn-lt"/>
                <a:ea typeface="+mn-ea"/>
                <a:cs typeface="+mn-cs"/>
              </a:rPr>
              <a:t>Logiq</a:t>
            </a:r>
            <a:r>
              <a:rPr lang="fr-FR" sz="1800" dirty="0" smtClean="0">
                <a:solidFill>
                  <a:schemeClr val="accent2">
                    <a:lumMod val="50000"/>
                  </a:schemeClr>
                </a:solidFill>
                <a:latin typeface="+mn-lt"/>
                <a:ea typeface="+mn-ea"/>
                <a:cs typeface="+mn-cs"/>
              </a:rPr>
              <a:t> Canada – GOOGLE – FACEBOOK – YouTube – Handicap RSE</a:t>
            </a:r>
            <a:endParaRPr lang="fr-FR" sz="1800" dirty="0">
              <a:solidFill>
                <a:schemeClr val="accent2">
                  <a:lumMod val="50000"/>
                </a:schemeClr>
              </a:solidFill>
              <a:latin typeface="+mn-lt"/>
              <a:ea typeface="+mn-ea"/>
              <a:cs typeface="+mn-cs"/>
            </a:endParaRPr>
          </a:p>
        </p:txBody>
      </p:sp>
      <p:sp>
        <p:nvSpPr>
          <p:cNvPr id="12" name="Titre 1"/>
          <p:cNvSpPr txBox="1">
            <a:spLocks/>
          </p:cNvSpPr>
          <p:nvPr/>
        </p:nvSpPr>
        <p:spPr>
          <a:xfrm>
            <a:off x="3154955" y="551809"/>
            <a:ext cx="5267459" cy="568607"/>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400" b="1" dirty="0" smtClean="0">
                <a:solidFill>
                  <a:srgbClr val="D81652"/>
                </a:solidFill>
                <a:latin typeface="+mn-lt"/>
                <a:ea typeface="+mn-ea"/>
                <a:cs typeface="+mn-cs"/>
              </a:rPr>
              <a:t>   WOMEN IMPACT NETWORK</a:t>
            </a:r>
            <a:endParaRPr lang="fr-FR" sz="2400" b="1" dirty="0">
              <a:solidFill>
                <a:srgbClr val="D81652"/>
              </a:solidFill>
              <a:latin typeface="+mn-lt"/>
              <a:ea typeface="+mn-ea"/>
              <a:cs typeface="+mn-cs"/>
            </a:endParaRPr>
          </a:p>
        </p:txBody>
      </p:sp>
      <p:pic>
        <p:nvPicPr>
          <p:cNvPr id="3" name="Imag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284" y="2253803"/>
            <a:ext cx="3368496" cy="4039934"/>
          </a:xfrm>
          <a:prstGeom prst="rect">
            <a:avLst/>
          </a:prstGeom>
        </p:spPr>
      </p:pic>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6316" y="2531415"/>
            <a:ext cx="5036098" cy="3650444"/>
          </a:xfrm>
          <a:prstGeom prst="rect">
            <a:avLst/>
          </a:prstGeom>
        </p:spPr>
      </p:pic>
      <p:pic>
        <p:nvPicPr>
          <p:cNvPr id="14" name="Imag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22414" y="2521731"/>
            <a:ext cx="3568622" cy="3660128"/>
          </a:xfrm>
          <a:prstGeom prst="rect">
            <a:avLst/>
          </a:prstGeom>
        </p:spPr>
      </p:pic>
    </p:spTree>
    <p:extLst>
      <p:ext uri="{BB962C8B-B14F-4D97-AF65-F5344CB8AC3E}">
        <p14:creationId xmlns:p14="http://schemas.microsoft.com/office/powerpoint/2010/main" val="4025242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9555" y="0"/>
            <a:ext cx="1282244" cy="1282244"/>
          </a:xfrm>
          <a:prstGeom prst="rect">
            <a:avLst/>
          </a:prstGeom>
        </p:spPr>
      </p:pic>
      <p:sp>
        <p:nvSpPr>
          <p:cNvPr id="10" name="Titre 1"/>
          <p:cNvSpPr txBox="1">
            <a:spLocks/>
          </p:cNvSpPr>
          <p:nvPr/>
        </p:nvSpPr>
        <p:spPr>
          <a:xfrm>
            <a:off x="297833" y="838281"/>
            <a:ext cx="5982066" cy="5674022"/>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buFont typeface="Wingdings" panose="05000000000000000000" pitchFamily="2" charset="2"/>
              <a:buChar char="ü"/>
            </a:pPr>
            <a:r>
              <a:rPr lang="fr-FR" sz="2000" b="1" dirty="0" smtClean="0">
                <a:solidFill>
                  <a:schemeClr val="accent2">
                    <a:lumMod val="50000"/>
                  </a:schemeClr>
                </a:solidFill>
              </a:rPr>
              <a:t>30.000 pieds d’arbres mis en terre</a:t>
            </a:r>
          </a:p>
          <a:p>
            <a:endParaRPr lang="fr-FR" sz="2000" b="1" dirty="0" smtClean="0">
              <a:solidFill>
                <a:schemeClr val="accent2">
                  <a:lumMod val="50000"/>
                </a:schemeClr>
              </a:solidFill>
            </a:endParaRPr>
          </a:p>
          <a:p>
            <a:pPr marL="457200" indent="-457200">
              <a:buFont typeface="Wingdings" panose="05000000000000000000" pitchFamily="2" charset="2"/>
              <a:buChar char="ü"/>
            </a:pPr>
            <a:r>
              <a:rPr lang="fr-FR" sz="2000" b="1" dirty="0" smtClean="0">
                <a:solidFill>
                  <a:schemeClr val="accent2">
                    <a:lumMod val="50000"/>
                  </a:schemeClr>
                </a:solidFill>
              </a:rPr>
              <a:t>Formation et sensibilisation de 150 chefs de villages et chefs traditionnels  </a:t>
            </a:r>
          </a:p>
          <a:p>
            <a:pPr marL="457200" indent="-457200">
              <a:buFont typeface="Wingdings" panose="05000000000000000000" pitchFamily="2" charset="2"/>
              <a:buChar char="ü"/>
            </a:pPr>
            <a:endParaRPr lang="fr-FR" sz="2000" b="1" dirty="0" smtClean="0">
              <a:solidFill>
                <a:schemeClr val="accent2">
                  <a:lumMod val="50000"/>
                </a:schemeClr>
              </a:solidFill>
            </a:endParaRPr>
          </a:p>
          <a:p>
            <a:pPr marL="457200" indent="-457200">
              <a:buFont typeface="Wingdings" panose="05000000000000000000" pitchFamily="2" charset="2"/>
              <a:buChar char="ü"/>
            </a:pPr>
            <a:r>
              <a:rPr lang="fr-FR" sz="2000" b="1" dirty="0" smtClean="0">
                <a:solidFill>
                  <a:schemeClr val="accent2">
                    <a:lumMod val="50000"/>
                  </a:schemeClr>
                </a:solidFill>
              </a:rPr>
              <a:t>Mise en place de Clubs de jardinage dans les écoles dans 12 pays</a:t>
            </a:r>
          </a:p>
          <a:p>
            <a:pPr marL="457200" indent="-457200">
              <a:buFont typeface="Wingdings" panose="05000000000000000000" pitchFamily="2" charset="2"/>
              <a:buChar char="ü"/>
            </a:pPr>
            <a:endParaRPr lang="fr-FR" sz="2000" b="1" dirty="0" smtClean="0">
              <a:solidFill>
                <a:schemeClr val="accent2">
                  <a:lumMod val="50000"/>
                </a:schemeClr>
              </a:solidFill>
            </a:endParaRPr>
          </a:p>
          <a:p>
            <a:pPr marL="457200" indent="-457200">
              <a:buFont typeface="Wingdings" panose="05000000000000000000" pitchFamily="2" charset="2"/>
              <a:buChar char="ü"/>
            </a:pPr>
            <a:r>
              <a:rPr lang="fr-FR" sz="2000" b="1" dirty="0" smtClean="0">
                <a:solidFill>
                  <a:schemeClr val="accent2">
                    <a:lumMod val="50000"/>
                  </a:schemeClr>
                </a:solidFill>
              </a:rPr>
              <a:t>Création de 8 incubateurs dédiés entièrement aux entrepreneurs verts </a:t>
            </a:r>
          </a:p>
          <a:p>
            <a:pPr marL="457200" indent="-457200">
              <a:buFont typeface="Wingdings" panose="05000000000000000000" pitchFamily="2" charset="2"/>
              <a:buChar char="ü"/>
            </a:pPr>
            <a:endParaRPr lang="fr-FR" sz="2000" b="1" dirty="0" smtClean="0">
              <a:solidFill>
                <a:schemeClr val="accent2">
                  <a:lumMod val="50000"/>
                </a:schemeClr>
              </a:solidFill>
            </a:endParaRPr>
          </a:p>
          <a:p>
            <a:pPr marL="457200" indent="-457200">
              <a:buFont typeface="Wingdings" panose="05000000000000000000" pitchFamily="2" charset="2"/>
              <a:buChar char="ü"/>
            </a:pPr>
            <a:r>
              <a:rPr lang="fr-FR" sz="2000" b="1" dirty="0">
                <a:solidFill>
                  <a:schemeClr val="accent2">
                    <a:lumMod val="50000"/>
                  </a:schemeClr>
                </a:solidFill>
              </a:rPr>
              <a:t>Formation et </a:t>
            </a:r>
            <a:r>
              <a:rPr lang="fr-FR" sz="2000" b="1" dirty="0" smtClean="0">
                <a:solidFill>
                  <a:schemeClr val="accent2">
                    <a:lumMod val="50000"/>
                  </a:schemeClr>
                </a:solidFill>
              </a:rPr>
              <a:t>initiation </a:t>
            </a:r>
            <a:r>
              <a:rPr lang="fr-FR" sz="2000" b="1" dirty="0">
                <a:solidFill>
                  <a:schemeClr val="accent2">
                    <a:lumMod val="50000"/>
                  </a:schemeClr>
                </a:solidFill>
              </a:rPr>
              <a:t>de + </a:t>
            </a:r>
            <a:r>
              <a:rPr lang="fr-FR" sz="2000" b="1" dirty="0" smtClean="0">
                <a:solidFill>
                  <a:schemeClr val="accent2">
                    <a:lumMod val="50000"/>
                  </a:schemeClr>
                </a:solidFill>
              </a:rPr>
              <a:t>7000 filles &amp; Jeunes</a:t>
            </a:r>
          </a:p>
          <a:p>
            <a:r>
              <a:rPr lang="fr-FR" sz="2000" b="1" dirty="0">
                <a:solidFill>
                  <a:schemeClr val="accent2">
                    <a:lumMod val="50000"/>
                  </a:schemeClr>
                </a:solidFill>
              </a:rPr>
              <a:t> </a:t>
            </a:r>
            <a:r>
              <a:rPr lang="fr-FR" sz="2000" b="1" dirty="0" smtClean="0">
                <a:solidFill>
                  <a:schemeClr val="accent2">
                    <a:lumMod val="50000"/>
                  </a:schemeClr>
                </a:solidFill>
              </a:rPr>
              <a:t>      </a:t>
            </a:r>
            <a:r>
              <a:rPr lang="fr-FR" sz="2000" b="1" dirty="0">
                <a:solidFill>
                  <a:schemeClr val="accent2">
                    <a:lumMod val="50000"/>
                  </a:schemeClr>
                </a:solidFill>
              </a:rPr>
              <a:t>à </a:t>
            </a:r>
            <a:r>
              <a:rPr lang="fr-FR" sz="2000" b="1" dirty="0" smtClean="0">
                <a:solidFill>
                  <a:schemeClr val="accent2">
                    <a:lumMod val="50000"/>
                  </a:schemeClr>
                </a:solidFill>
              </a:rPr>
              <a:t>la fabrication de briquettes de charbons</a:t>
            </a:r>
            <a:endParaRPr lang="fr-FR" sz="2000" b="1" dirty="0">
              <a:solidFill>
                <a:schemeClr val="accent2">
                  <a:lumMod val="50000"/>
                </a:schemeClr>
              </a:solidFill>
            </a:endParaRPr>
          </a:p>
          <a:p>
            <a:endParaRPr lang="fr-FR" sz="2000" b="1" dirty="0" smtClean="0">
              <a:solidFill>
                <a:schemeClr val="accent2">
                  <a:lumMod val="50000"/>
                </a:schemeClr>
              </a:solidFill>
            </a:endParaRPr>
          </a:p>
          <a:p>
            <a:pPr marL="457200" indent="-457200">
              <a:buFont typeface="Wingdings" panose="05000000000000000000" pitchFamily="2" charset="2"/>
              <a:buChar char="ü"/>
            </a:pPr>
            <a:r>
              <a:rPr lang="fr-FR" sz="2000" b="1" dirty="0" smtClean="0">
                <a:solidFill>
                  <a:schemeClr val="accent2">
                    <a:lumMod val="50000"/>
                  </a:schemeClr>
                </a:solidFill>
              </a:rPr>
              <a:t>Formation et initiation à l’agriculture urbaine de  5200 femmes en reconversion suite au covid19</a:t>
            </a:r>
            <a:endParaRPr lang="fr-FR" sz="2000" b="1" dirty="0">
              <a:solidFill>
                <a:schemeClr val="accent2">
                  <a:lumMod val="50000"/>
                </a:schemeClr>
              </a:solidFill>
            </a:endParaRPr>
          </a:p>
          <a:p>
            <a:pPr marL="457200" indent="-457200">
              <a:buFont typeface="Wingdings" panose="05000000000000000000" pitchFamily="2" charset="2"/>
              <a:buChar char="ü"/>
            </a:pPr>
            <a:endParaRPr lang="fr-FR" sz="3200" dirty="0" smtClean="0">
              <a:solidFill>
                <a:schemeClr val="accent2">
                  <a:lumMod val="50000"/>
                </a:schemeClr>
              </a:solidFill>
            </a:endParaRPr>
          </a:p>
          <a:p>
            <a:endParaRPr lang="fr-FR" sz="1800" dirty="0">
              <a:solidFill>
                <a:schemeClr val="accent2">
                  <a:lumMod val="50000"/>
                </a:schemeClr>
              </a:solidFill>
            </a:endParaRPr>
          </a:p>
        </p:txBody>
      </p:sp>
      <p:sp>
        <p:nvSpPr>
          <p:cNvPr id="15" name="Titre 1"/>
          <p:cNvSpPr txBox="1">
            <a:spLocks/>
          </p:cNvSpPr>
          <p:nvPr/>
        </p:nvSpPr>
        <p:spPr>
          <a:xfrm>
            <a:off x="1584175" y="443962"/>
            <a:ext cx="2640095" cy="394319"/>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lnSpc>
                <a:spcPct val="115000"/>
              </a:lnSpc>
            </a:pPr>
            <a:r>
              <a:rPr lang="fr-FR" sz="2400" b="1" dirty="0" smtClean="0">
                <a:solidFill>
                  <a:srgbClr val="D81652"/>
                </a:solidFill>
              </a:rPr>
              <a:t>TEERRA AFRICA</a:t>
            </a:r>
            <a:endParaRPr lang="fr-FR" sz="2400" b="1" dirty="0">
              <a:solidFill>
                <a:schemeClr val="accent2">
                  <a:lumMod val="50000"/>
                </a:schemeClr>
              </a:solidFill>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0100" y="0"/>
            <a:ext cx="5681900" cy="6858000"/>
          </a:xfrm>
          <a:prstGeom prst="rect">
            <a:avLst/>
          </a:prstGeom>
        </p:spPr>
      </p:pic>
    </p:spTree>
    <p:extLst>
      <p:ext uri="{BB962C8B-B14F-4D97-AF65-F5344CB8AC3E}">
        <p14:creationId xmlns:p14="http://schemas.microsoft.com/office/powerpoint/2010/main" val="3596777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9555" y="0"/>
            <a:ext cx="1282244" cy="1282244"/>
          </a:xfrm>
          <a:prstGeom prst="rect">
            <a:avLst/>
          </a:prstGeom>
        </p:spPr>
      </p:pic>
      <p:sp>
        <p:nvSpPr>
          <p:cNvPr id="15" name="Titre 1"/>
          <p:cNvSpPr txBox="1">
            <a:spLocks/>
          </p:cNvSpPr>
          <p:nvPr/>
        </p:nvSpPr>
        <p:spPr>
          <a:xfrm>
            <a:off x="1609933" y="-6799"/>
            <a:ext cx="1403724" cy="689379"/>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lnSpc>
                <a:spcPct val="115000"/>
              </a:lnSpc>
            </a:pPr>
            <a:r>
              <a:rPr lang="fr-FR" sz="2400" b="1" dirty="0" smtClean="0">
                <a:solidFill>
                  <a:srgbClr val="D81652"/>
                </a:solidFill>
              </a:rPr>
              <a:t> </a:t>
            </a:r>
            <a:r>
              <a:rPr lang="fr-FR" sz="4400" b="1" dirty="0" smtClean="0">
                <a:solidFill>
                  <a:srgbClr val="D81652"/>
                </a:solidFill>
              </a:rPr>
              <a:t>AFD</a:t>
            </a:r>
            <a:endParaRPr lang="fr-FR" sz="4400" b="1" dirty="0">
              <a:solidFill>
                <a:schemeClr val="accent2">
                  <a:lumMod val="50000"/>
                </a:schemeClr>
              </a:solidFill>
            </a:endParaRPr>
          </a:p>
        </p:txBody>
      </p:sp>
      <p:pic>
        <p:nvPicPr>
          <p:cNvPr id="2"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3889" y="0"/>
            <a:ext cx="6906835" cy="4604556"/>
          </a:xfrm>
          <a:prstGeom prst="rect">
            <a:avLst/>
          </a:prstGeom>
        </p:spPr>
      </p:pic>
      <p:pic>
        <p:nvPicPr>
          <p:cNvPr id="3" name="Imag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22" y="3011867"/>
            <a:ext cx="5769199" cy="3846133"/>
          </a:xfrm>
          <a:prstGeom prst="rect">
            <a:avLst/>
          </a:prstGeom>
        </p:spPr>
      </p:pic>
      <p:pic>
        <p:nvPicPr>
          <p:cNvPr id="8" name="Imag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88821" y="4604556"/>
            <a:ext cx="6281903" cy="2253444"/>
          </a:xfrm>
          <a:prstGeom prst="rect">
            <a:avLst/>
          </a:prstGeom>
        </p:spPr>
      </p:pic>
    </p:spTree>
    <p:extLst>
      <p:ext uri="{BB962C8B-B14F-4D97-AF65-F5344CB8AC3E}">
        <p14:creationId xmlns:p14="http://schemas.microsoft.com/office/powerpoint/2010/main" val="1271896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4306" y="3168203"/>
            <a:ext cx="3795967" cy="3966692"/>
          </a:xfrm>
          <a:prstGeom prst="rect">
            <a:avLst/>
          </a:prstGeom>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4306" y="0"/>
            <a:ext cx="3607694" cy="3168203"/>
          </a:xfrm>
          <a:prstGeom prst="rect">
            <a:avLst/>
          </a:prstGeom>
        </p:spPr>
      </p:pic>
      <p:pic>
        <p:nvPicPr>
          <p:cNvPr id="8" name="Imag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8584306" cy="6858000"/>
          </a:xfrm>
          <a:prstGeom prst="rect">
            <a:avLst/>
          </a:prstGeom>
        </p:spPr>
      </p:pic>
    </p:spTree>
    <p:extLst>
      <p:ext uri="{BB962C8B-B14F-4D97-AF65-F5344CB8AC3E}">
        <p14:creationId xmlns:p14="http://schemas.microsoft.com/office/powerpoint/2010/main" val="3305586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re 1"/>
          <p:cNvSpPr txBox="1">
            <a:spLocks/>
          </p:cNvSpPr>
          <p:nvPr/>
        </p:nvSpPr>
        <p:spPr>
          <a:xfrm>
            <a:off x="10462707" y="0"/>
            <a:ext cx="1403724" cy="689379"/>
          </a:xfrm>
          <a:prstGeom prst="rect">
            <a:avLst/>
          </a:prstGeom>
          <a:ln>
            <a:solidFill>
              <a:srgbClr val="939393"/>
            </a:solidFill>
          </a:ln>
        </p:spPr>
        <p:txBody>
          <a:bodyPr>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lnSpc>
                <a:spcPct val="115000"/>
              </a:lnSpc>
            </a:pPr>
            <a:r>
              <a:rPr lang="fr-FR" sz="2400" b="1" dirty="0" smtClean="0">
                <a:solidFill>
                  <a:srgbClr val="D81652"/>
                </a:solidFill>
              </a:rPr>
              <a:t> </a:t>
            </a:r>
            <a:r>
              <a:rPr lang="fr-FR" sz="4400" b="1" dirty="0" smtClean="0">
                <a:solidFill>
                  <a:srgbClr val="D81652"/>
                </a:solidFill>
              </a:rPr>
              <a:t>OIF</a:t>
            </a:r>
            <a:endParaRPr lang="fr-FR" sz="4400" b="1" dirty="0">
              <a:solidFill>
                <a:schemeClr val="accent2">
                  <a:lumMod val="50000"/>
                </a:schemeClr>
              </a:solidFill>
            </a:endParaRPr>
          </a:p>
        </p:txBody>
      </p:sp>
      <p:pic>
        <p:nvPicPr>
          <p:cNvPr id="4" name="Image 3"/>
          <p:cNvPicPr>
            <a:picLocks noChangeAspect="1"/>
          </p:cNvPicPr>
          <p:nvPr/>
        </p:nvPicPr>
        <p:blipFill rotWithShape="1">
          <a:blip r:embed="rId2">
            <a:extLst>
              <a:ext uri="{28A0092B-C50C-407E-A947-70E740481C1C}">
                <a14:useLocalDpi xmlns:a14="http://schemas.microsoft.com/office/drawing/2010/main" val="0"/>
              </a:ext>
            </a:extLst>
          </a:blip>
          <a:srcRect l="13819" t="54933" r="13516"/>
          <a:stretch/>
        </p:blipFill>
        <p:spPr>
          <a:xfrm>
            <a:off x="1" y="4647353"/>
            <a:ext cx="9465972" cy="2085770"/>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6880" y="811369"/>
            <a:ext cx="2862791" cy="6046631"/>
          </a:xfrm>
          <a:prstGeom prst="rect">
            <a:avLst/>
          </a:prstGeom>
        </p:spPr>
      </p:pic>
      <p:pic>
        <p:nvPicPr>
          <p:cNvPr id="7" name="Image 6"/>
          <p:cNvPicPr>
            <a:picLocks noChangeAspect="1"/>
          </p:cNvPicPr>
          <p:nvPr/>
        </p:nvPicPr>
        <p:blipFill rotWithShape="1">
          <a:blip r:embed="rId4">
            <a:extLst>
              <a:ext uri="{28A0092B-C50C-407E-A947-70E740481C1C}">
                <a14:useLocalDpi xmlns:a14="http://schemas.microsoft.com/office/drawing/2010/main" val="0"/>
              </a:ext>
            </a:extLst>
          </a:blip>
          <a:srcRect l="8963"/>
          <a:stretch/>
        </p:blipFill>
        <p:spPr>
          <a:xfrm>
            <a:off x="1" y="0"/>
            <a:ext cx="9156879" cy="4647353"/>
          </a:xfrm>
          <a:prstGeom prst="rect">
            <a:avLst/>
          </a:prstGeom>
        </p:spPr>
      </p:pic>
    </p:spTree>
    <p:extLst>
      <p:ext uri="{BB962C8B-B14F-4D97-AF65-F5344CB8AC3E}">
        <p14:creationId xmlns:p14="http://schemas.microsoft.com/office/powerpoint/2010/main" val="2141359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9555" y="0"/>
            <a:ext cx="1282244" cy="1282244"/>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4391696" cy="3104051"/>
          </a:xfrm>
          <a:prstGeom prst="rect">
            <a:avLst/>
          </a:prstGeom>
        </p:spPr>
      </p:pic>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1697" y="0"/>
            <a:ext cx="3798496" cy="3104051"/>
          </a:xfrm>
          <a:prstGeom prst="rect">
            <a:avLst/>
          </a:prstGeom>
        </p:spPr>
      </p:pic>
      <p:pic>
        <p:nvPicPr>
          <p:cNvPr id="8" name="Image 7"/>
          <p:cNvPicPr>
            <a:picLocks noChangeAspect="1"/>
          </p:cNvPicPr>
          <p:nvPr/>
        </p:nvPicPr>
        <p:blipFill rotWithShape="1">
          <a:blip r:embed="rId5">
            <a:extLst>
              <a:ext uri="{28A0092B-C50C-407E-A947-70E740481C1C}">
                <a14:useLocalDpi xmlns:a14="http://schemas.microsoft.com/office/drawing/2010/main" val="0"/>
              </a:ext>
            </a:extLst>
          </a:blip>
          <a:srcRect t="10892" b="25446"/>
          <a:stretch/>
        </p:blipFill>
        <p:spPr>
          <a:xfrm>
            <a:off x="8036417" y="0"/>
            <a:ext cx="4155583" cy="6858000"/>
          </a:xfrm>
          <a:prstGeom prst="rect">
            <a:avLst/>
          </a:prstGeom>
        </p:spPr>
      </p:pic>
      <p:pic>
        <p:nvPicPr>
          <p:cNvPr id="9" name="Imag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 y="3104051"/>
            <a:ext cx="8036415" cy="3753949"/>
          </a:xfrm>
          <a:prstGeom prst="rect">
            <a:avLst/>
          </a:prstGeom>
        </p:spPr>
      </p:pic>
    </p:spTree>
    <p:extLst>
      <p:ext uri="{BB962C8B-B14F-4D97-AF65-F5344CB8AC3E}">
        <p14:creationId xmlns:p14="http://schemas.microsoft.com/office/powerpoint/2010/main" val="3556071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0476" y="0"/>
            <a:ext cx="7146392" cy="1026515"/>
          </a:xfrm>
          <a:ln>
            <a:solidFill>
              <a:srgbClr val="000000"/>
            </a:solidFill>
          </a:ln>
        </p:spPr>
        <p:txBody>
          <a:bodyPr>
            <a:noAutofit/>
          </a:bodyPr>
          <a:lstStyle/>
          <a:p>
            <a:r>
              <a:rPr lang="fr-FR" altLang="fr-FR" sz="2000" b="1" dirty="0">
                <a:solidFill>
                  <a:srgbClr val="D81652"/>
                </a:solidFill>
              </a:rPr>
              <a:t>Ayodélé OGNIN</a:t>
            </a:r>
            <a:r>
              <a:rPr lang="fr-FR" altLang="fr-FR" sz="2000" b="1" dirty="0">
                <a:solidFill>
                  <a:schemeClr val="accent2">
                    <a:lumMod val="50000"/>
                  </a:schemeClr>
                </a:solidFill>
              </a:rPr>
              <a:t>, </a:t>
            </a:r>
            <a:r>
              <a:rPr lang="fr-FR" altLang="fr-FR" sz="2000" b="1" dirty="0" smtClean="0">
                <a:solidFill>
                  <a:schemeClr val="accent2">
                    <a:lumMod val="50000"/>
                  </a:schemeClr>
                </a:solidFill>
              </a:rPr>
              <a:t>Experte Genre</a:t>
            </a:r>
            <a:br>
              <a:rPr lang="fr-FR" altLang="fr-FR" sz="2000" b="1" dirty="0" smtClean="0">
                <a:solidFill>
                  <a:schemeClr val="accent2">
                    <a:lumMod val="50000"/>
                  </a:schemeClr>
                </a:solidFill>
              </a:rPr>
            </a:br>
            <a:r>
              <a:rPr lang="fr-FR" altLang="fr-FR" sz="2000" b="1" dirty="0" smtClean="0">
                <a:solidFill>
                  <a:schemeClr val="accent2">
                    <a:lumMod val="50000"/>
                  </a:schemeClr>
                </a:solidFill>
              </a:rPr>
              <a:t>Consultante </a:t>
            </a:r>
            <a:r>
              <a:rPr lang="fr-FR" altLang="fr-FR" sz="2000" b="1" dirty="0">
                <a:solidFill>
                  <a:schemeClr val="accent2">
                    <a:lumMod val="50000"/>
                  </a:schemeClr>
                </a:solidFill>
              </a:rPr>
              <a:t>sur les questions </a:t>
            </a:r>
            <a:r>
              <a:rPr lang="fr-FR" altLang="fr-FR" sz="2000" b="1" dirty="0" smtClean="0">
                <a:solidFill>
                  <a:schemeClr val="accent2">
                    <a:lumMod val="50000"/>
                  </a:schemeClr>
                </a:solidFill>
              </a:rPr>
              <a:t>de renforcement de  capacités de développement de compétences en </a:t>
            </a:r>
            <a:r>
              <a:rPr lang="fr-FR" altLang="fr-FR" sz="2000" b="1" dirty="0">
                <a:solidFill>
                  <a:schemeClr val="accent2">
                    <a:lumMod val="50000"/>
                  </a:schemeClr>
                </a:solidFill>
              </a:rPr>
              <a:t>Afrique</a:t>
            </a:r>
            <a:endParaRPr lang="fr-FR" sz="4800" b="1" dirty="0">
              <a:solidFill>
                <a:schemeClr val="accent2">
                  <a:lumMod val="50000"/>
                </a:schemeClr>
              </a:solidFill>
            </a:endParaRPr>
          </a:p>
        </p:txBody>
      </p:sp>
      <p:sp>
        <p:nvSpPr>
          <p:cNvPr id="4" name="Espace réservé du contenu 3"/>
          <p:cNvSpPr>
            <a:spLocks noGrp="1"/>
          </p:cNvSpPr>
          <p:nvPr>
            <p:ph sz="half" idx="2"/>
          </p:nvPr>
        </p:nvSpPr>
        <p:spPr>
          <a:xfrm>
            <a:off x="194565" y="1171978"/>
            <a:ext cx="7146392" cy="6013046"/>
          </a:xfr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a:normAutofit/>
          </a:bodyPr>
          <a:lstStyle/>
          <a:p>
            <a:r>
              <a:rPr lang="fr-FR" dirty="0" smtClean="0"/>
              <a:t>Diplômée </a:t>
            </a:r>
            <a:r>
              <a:rPr lang="fr-FR" dirty="0"/>
              <a:t>d'un </a:t>
            </a:r>
            <a:r>
              <a:rPr lang="fr-FR" b="1" dirty="0">
                <a:solidFill>
                  <a:schemeClr val="accent2">
                    <a:lumMod val="50000"/>
                  </a:schemeClr>
                </a:solidFill>
              </a:rPr>
              <a:t>MBA en Finance de l’ESG Paris </a:t>
            </a:r>
            <a:r>
              <a:rPr lang="fr-FR" dirty="0"/>
              <a:t>et </a:t>
            </a:r>
            <a:r>
              <a:rPr lang="fr-FR" dirty="0" smtClean="0"/>
              <a:t>d'un Bachelor </a:t>
            </a:r>
            <a:r>
              <a:rPr lang="fr-FR" dirty="0"/>
              <a:t>en langue &amp; civilisation </a:t>
            </a:r>
            <a:r>
              <a:rPr lang="fr-FR" dirty="0" smtClean="0"/>
              <a:t>Anglaise, elle </a:t>
            </a:r>
            <a:r>
              <a:rPr lang="fr-FR" dirty="0"/>
              <a:t>justifie de </a:t>
            </a:r>
            <a:r>
              <a:rPr lang="fr-FR" dirty="0" smtClean="0"/>
              <a:t>10années </a:t>
            </a:r>
            <a:r>
              <a:rPr lang="fr-FR" dirty="0"/>
              <a:t>d'expérience cumulées au sein de plusieurs groupes, fonds de capital risque, banque d'investissement et institutions financières</a:t>
            </a:r>
            <a:r>
              <a:rPr lang="fr-FR" dirty="0" smtClean="0"/>
              <a:t>.</a:t>
            </a:r>
          </a:p>
          <a:p>
            <a:r>
              <a:rPr lang="fr-FR" dirty="0" smtClean="0"/>
              <a:t> </a:t>
            </a:r>
            <a:r>
              <a:rPr lang="fr-FR" altLang="fr-FR" b="1" dirty="0">
                <a:solidFill>
                  <a:schemeClr val="accent2">
                    <a:lumMod val="50000"/>
                  </a:schemeClr>
                </a:solidFill>
              </a:rPr>
              <a:t>Experte Genre </a:t>
            </a:r>
            <a:r>
              <a:rPr lang="fr-FR" dirty="0" smtClean="0"/>
              <a:t>Consultante </a:t>
            </a:r>
            <a:r>
              <a:rPr lang="fr-FR" dirty="0"/>
              <a:t>sur les questions </a:t>
            </a:r>
            <a:r>
              <a:rPr lang="fr-FR" dirty="0" smtClean="0"/>
              <a:t>du genre, d’inclusion financière. Elle </a:t>
            </a:r>
            <a:r>
              <a:rPr lang="fr-FR" dirty="0"/>
              <a:t>accompagne plusieurs </a:t>
            </a:r>
            <a:r>
              <a:rPr lang="fr-FR" dirty="0" smtClean="0"/>
              <a:t>programmes </a:t>
            </a:r>
            <a:r>
              <a:rPr lang="fr-FR" dirty="0"/>
              <a:t>internationaux dans la mise en place d’instruments dédiés à </a:t>
            </a:r>
            <a:r>
              <a:rPr lang="fr-FR" dirty="0" smtClean="0"/>
              <a:t>l'</a:t>
            </a:r>
            <a:r>
              <a:rPr lang="fr-FR" altLang="fr-FR" b="1" dirty="0" smtClean="0">
                <a:solidFill>
                  <a:schemeClr val="accent2">
                    <a:lumMod val="50000"/>
                  </a:schemeClr>
                </a:solidFill>
              </a:rPr>
              <a:t>’économie </a:t>
            </a:r>
            <a:r>
              <a:rPr lang="fr-FR" altLang="fr-FR" b="1" dirty="0">
                <a:solidFill>
                  <a:schemeClr val="accent2">
                    <a:lumMod val="50000"/>
                  </a:schemeClr>
                </a:solidFill>
              </a:rPr>
              <a:t>verte </a:t>
            </a:r>
            <a:r>
              <a:rPr lang="fr-FR" altLang="fr-FR" b="1" dirty="0" smtClean="0">
                <a:solidFill>
                  <a:schemeClr val="accent2">
                    <a:lumMod val="50000"/>
                  </a:schemeClr>
                </a:solidFill>
              </a:rPr>
              <a:t>&amp; </a:t>
            </a:r>
            <a:r>
              <a:rPr lang="fr-FR" dirty="0" smtClean="0"/>
              <a:t>entrepreneuriat </a:t>
            </a:r>
            <a:r>
              <a:rPr lang="fr-FR" dirty="0"/>
              <a:t>en </a:t>
            </a:r>
            <a:r>
              <a:rPr lang="fr-FR" dirty="0" smtClean="0"/>
              <a:t>Afrique.</a:t>
            </a:r>
          </a:p>
          <a:p>
            <a:r>
              <a:rPr lang="fr-FR" dirty="0"/>
              <a:t>Consultante sur le financement de projet, travail avec les institutions sur comment intégrer le genre &amp; environnement dans les programmes d’accompagnement pour les pays africains. </a:t>
            </a:r>
          </a:p>
          <a:p>
            <a:r>
              <a:rPr lang="fr-FR" dirty="0" err="1" smtClean="0">
                <a:solidFill>
                  <a:schemeClr val="accent2">
                    <a:lumMod val="50000"/>
                  </a:schemeClr>
                </a:solidFill>
              </a:rPr>
              <a:t>Energy</a:t>
            </a:r>
            <a:r>
              <a:rPr lang="fr-FR" dirty="0" smtClean="0">
                <a:solidFill>
                  <a:schemeClr val="accent2">
                    <a:lumMod val="50000"/>
                  </a:schemeClr>
                </a:solidFill>
              </a:rPr>
              <a:t> </a:t>
            </a:r>
            <a:r>
              <a:rPr lang="fr-FR" dirty="0" err="1">
                <a:solidFill>
                  <a:schemeClr val="accent2">
                    <a:lumMod val="50000"/>
                  </a:schemeClr>
                </a:solidFill>
              </a:rPr>
              <a:t>Generation</a:t>
            </a:r>
            <a:r>
              <a:rPr lang="fr-FR" dirty="0">
                <a:solidFill>
                  <a:schemeClr val="accent2">
                    <a:lumMod val="50000"/>
                  </a:schemeClr>
                </a:solidFill>
              </a:rPr>
              <a:t> Togo - FMO Entrepreneurial Development Bank / Société néerlandaise de financement du développement- Agence Française de Développement (AFD</a:t>
            </a:r>
            <a:r>
              <a:rPr lang="fr-FR" dirty="0" smtClean="0">
                <a:solidFill>
                  <a:schemeClr val="accent2">
                    <a:lumMod val="50000"/>
                  </a:schemeClr>
                </a:solidFill>
              </a:rPr>
              <a:t>) – </a:t>
            </a:r>
            <a:r>
              <a:rPr lang="fr-FR" dirty="0" err="1" smtClean="0">
                <a:solidFill>
                  <a:schemeClr val="accent2">
                    <a:lumMod val="50000"/>
                  </a:schemeClr>
                </a:solidFill>
              </a:rPr>
              <a:t>Archipel&amp;CO</a:t>
            </a:r>
            <a:r>
              <a:rPr lang="fr-FR" dirty="0" smtClean="0">
                <a:solidFill>
                  <a:schemeClr val="accent2">
                    <a:lumMod val="50000"/>
                  </a:schemeClr>
                </a:solidFill>
              </a:rPr>
              <a:t>.</a:t>
            </a:r>
            <a:endParaRPr lang="fr-FR" i="1" dirty="0"/>
          </a:p>
          <a:p>
            <a:endParaRPr lang="fr-FR" dirty="0" smtClean="0"/>
          </a:p>
          <a:p>
            <a:pPr marL="0" indent="0">
              <a:buNone/>
            </a:pPr>
            <a:endParaRPr lang="fr-FR" sz="2000" b="1" dirty="0"/>
          </a:p>
          <a:p>
            <a:endParaRPr lang="fr-FR"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0957" y="0"/>
            <a:ext cx="4851043" cy="6858000"/>
          </a:xfrm>
          <a:prstGeom prst="rect">
            <a:avLst/>
          </a:prstGeom>
        </p:spPr>
      </p:pic>
    </p:spTree>
    <p:extLst>
      <p:ext uri="{BB962C8B-B14F-4D97-AF65-F5344CB8AC3E}">
        <p14:creationId xmlns:p14="http://schemas.microsoft.com/office/powerpoint/2010/main" val="3211433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10" name="Rectangle 9"/>
          <p:cNvSpPr/>
          <p:nvPr/>
        </p:nvSpPr>
        <p:spPr>
          <a:xfrm>
            <a:off x="2749937" y="1356208"/>
            <a:ext cx="7313614" cy="2646878"/>
          </a:xfrm>
          <a:prstGeom prst="rect">
            <a:avLst/>
          </a:prstGeom>
        </p:spPr>
        <p:txBody>
          <a:bodyPr wrap="square">
            <a:spAutoFit/>
          </a:bodyPr>
          <a:lstStyle/>
          <a:p>
            <a:r>
              <a:rPr lang="fr-FR" sz="16600" b="1" dirty="0" smtClean="0">
                <a:solidFill>
                  <a:srgbClr val="FF0000"/>
                </a:solidFill>
              </a:rPr>
              <a:t>MERCI</a:t>
            </a:r>
            <a:endParaRPr lang="fr-FR" sz="16600" b="1" dirty="0">
              <a:solidFill>
                <a:srgbClr val="FF0000"/>
              </a:solidFill>
            </a:endParaRPr>
          </a:p>
        </p:txBody>
      </p:sp>
    </p:spTree>
    <p:extLst>
      <p:ext uri="{BB962C8B-B14F-4D97-AF65-F5344CB8AC3E}">
        <p14:creationId xmlns:p14="http://schemas.microsoft.com/office/powerpoint/2010/main" val="2513477886"/>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11022</TotalTime>
  <Words>655</Words>
  <Application>Microsoft Office PowerPoint</Application>
  <PresentationFormat>Grand écran</PresentationFormat>
  <Paragraphs>47</Paragraphs>
  <Slides>16</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16</vt:i4>
      </vt:variant>
    </vt:vector>
  </HeadingPairs>
  <TitlesOfParts>
    <vt:vector size="23" baseType="lpstr">
      <vt:lpstr>Arial</vt:lpstr>
      <vt:lpstr>Calibri</vt:lpstr>
      <vt:lpstr>inherit</vt:lpstr>
      <vt:lpstr>Trebuchet MS</vt:lpstr>
      <vt:lpstr>Wingdings</vt:lpstr>
      <vt:lpstr>Wingdings 3</vt:lpstr>
      <vt:lpstr>Facette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Ayodélé OGNIN, Experte Genre Consultante sur les questions de renforcement de  capacités de développement de compétences en Afrique</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WOMEN IMPACT NETWORK</dc:title>
  <dc:creator>HP</dc:creator>
  <cp:lastModifiedBy>HP</cp:lastModifiedBy>
  <cp:revision>100</cp:revision>
  <dcterms:created xsi:type="dcterms:W3CDTF">2021-06-03T07:52:19Z</dcterms:created>
  <dcterms:modified xsi:type="dcterms:W3CDTF">2022-05-10T10:38:12Z</dcterms:modified>
</cp:coreProperties>
</file>